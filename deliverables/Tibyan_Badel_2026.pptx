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3" r:id="rId13"/>
    <p:sldId id="266" r:id="rId16"/>
    <p:sldId id="279" r:id="rId29"/>
    <p:sldId id="282" r:id="rId32"/>
    <p:sldId id="270" r:id="rId20"/>
    <p:sldId id="273" r:id="rId23"/>
    <p:sldId id="286" r:id="rId36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8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3" Type="http://schemas.openxmlformats.org/officeDocument/2006/relationships/slide" Target="slides/slide18.xml"/><Relationship Id="rId29" Type="http://schemas.openxmlformats.org/officeDocument/2006/relationships/slide" Target="slides/slide24.xml"/><Relationship Id="rId32" Type="http://schemas.openxmlformats.org/officeDocument/2006/relationships/slide" Target="slides/slide27.xml"/><Relationship Id="rId36" Type="http://schemas.openxmlformats.org/officeDocument/2006/relationships/slide" Target="slides/slide31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hyperlink" Target="https://tibyan-mvp.vercel.app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64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تِبْيَان</a:t>
            </a:r>
            <a:endParaRPr/>
          </a:p>
        </p:txBody>
      </p:sp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2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حوار معرفي مدعوم بالذكاء الاصطناعي
نحو إجابات قابلة للتتبع وإحالة مسؤولة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60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فريق تِبْيَان • المسار 01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6 أكتوبر 2026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Picture 492" descr="شعار تِبْيَان من Brand K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0" y="3904487"/>
            <a:ext cx="1024128" cy="558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الثقة تحتاج أكثر من إجابة مقنعة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معيار المسار: جواب واضح وملائم يمكن تتبعه — أو امتناع وإحالة.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8E99CC"/>
                </a:solidFill>
                <a:latin typeface="Readex Pro"/>
              </a:rPr>
              <a:t>02</a:t>
            </a:r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إجابة بلا سند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1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قد تبدو مقنعة، لكن يصعب التحقق منها أو مراجعة مصدرها.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النص ليس شرحاً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1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النص القرآني أو الحديثي يجب أن يبقى حرفياً ومنسوباً لمصدره.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السؤال الحساس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1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الفتوى الشخصية أو الخلاف يحتاجان مساراً مختلفاً عن المعرفة العامة.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السائل له سياق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1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المعرفة والخلفية واللغة تؤثر في مستوى الشرح المناسب.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نتائج الاختبار</a:t>
            </a:r>
            <a:endParaRPr/>
          </a:p>
        </p:txBody>
      </p:sp>
      <p:sp>
        <p:nvSpPr>
          <p:cNvPr id="605" name="Google Shape;605;p15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النتائج كما هي — لا على أساس الوعود</a:t>
            </a:r>
            <a:endParaRPr/>
          </a:p>
        </p:txBody>
      </p:sp>
      <p:sp>
        <p:nvSpPr>
          <p:cNvPr id="606" name="Google Shape;606;p15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آخر تشغيل: 6 أكتوبر 2026 | تقييم محلي لا يشمل Gemini/الشبكة، ولا يقارن استقرار التكرارات.</a:t>
            </a:r>
            <a:endParaRPr/>
          </a:p>
        </p:txBody>
      </p:sp>
      <p:sp>
        <p:nvSpPr>
          <p:cNvPr id="607" name="Google Shape;607;p1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8E99CC"/>
                </a:solidFill>
                <a:latin typeface="Readex Pro"/>
              </a:rPr>
              <a:t>05</a:t>
            </a:r>
            <a:endParaRPr/>
          </a:p>
        </p:txBody>
      </p:sp>
      <p:sp>
        <p:nvSpPr>
          <p:cNvPr id="608" name="Google Shape;608;p15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5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83.3%</a:t>
            </a:r>
            <a:endParaRPr/>
          </a:p>
        </p:txBody>
      </p:sp>
      <p:sp>
        <p:nvSpPr>
          <p:cNvPr id="609" name="Google Shape;609;p15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2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صحة التوجيه</a:t>
            </a:r>
            <a:endParaRPr/>
          </a:p>
        </p:txBody>
      </p:sp>
      <p:sp>
        <p:nvSpPr>
          <p:cNvPr id="610" name="Google Shape;610;p15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10 من 12 حالة</a:t>
            </a:r>
            <a:endParaRPr/>
          </a:p>
        </p:txBody>
      </p:sp>
      <p:sp>
        <p:nvSpPr>
          <p:cNvPr id="611" name="Google Shape;611;p15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5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55.6%</a:t>
            </a:r>
            <a:endParaRPr/>
          </a:p>
        </p:txBody>
      </p:sp>
      <p:sp>
        <p:nvSpPr>
          <p:cNvPr id="612" name="Google Shape;612;p15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2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استرجاع المصادر</a:t>
            </a:r>
            <a:endParaRPr/>
          </a:p>
        </p:txBody>
      </p:sp>
      <p:sp>
        <p:nvSpPr>
          <p:cNvPr id="613" name="Google Shape;613;p15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10 من 18 مصدراً متوقعاً</a:t>
            </a:r>
            <a:endParaRPr/>
          </a:p>
        </p:txBody>
      </p:sp>
      <p:sp>
        <p:nvSpPr>
          <p:cNvPr id="614" name="Google Shape;614;p15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5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75%</a:t>
            </a:r>
            <a:endParaRPr/>
          </a:p>
        </p:txBody>
      </p:sp>
      <p:sp>
        <p:nvSpPr>
          <p:cNvPr id="615" name="Google Shape;615;p15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2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مسابر الحارس</a:t>
            </a:r>
            <a:endParaRPr/>
          </a:p>
        </p:txBody>
      </p:sp>
      <p:sp>
        <p:nvSpPr>
          <p:cNvPr id="616" name="Google Shape;616;p15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3 من 4 اختبارات مستقلة</a:t>
            </a:r>
            <a:endParaRPr/>
          </a:p>
        </p:txBody>
      </p:sp>
      <p:sp>
        <p:nvSpPr>
          <p:cNvPr id="617" name="Google Shape;617;p15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5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1/12</a:t>
            </a:r>
            <a:endParaRPr/>
          </a:p>
        </p:txBody>
      </p:sp>
      <p:sp>
        <p:nvSpPr>
          <p:cNvPr id="618" name="Google Shape;618;p15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2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توافق الحارس الكامل</a:t>
            </a:r>
            <a:endParaRPr/>
          </a:p>
        </p:txBody>
      </p:sp>
      <p:sp>
        <p:nvSpPr>
          <p:cNvPr id="619" name="Google Shape;619;p15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الفتوى الشخصية فقط طابقت المتوقع</a:t>
            </a:r>
            <a:endParaRPr/>
          </a:p>
        </p:txBody>
      </p:sp>
      <p:sp>
        <p:nvSpPr>
          <p:cNvPr id="620" name="Google Shape;620;p15"/>
          <p:cNvSpPr txBox="1"/>
          <p:nvPr>
            <p:ph idx="18" type="body"/>
          </p:nvPr>
        </p:nvSpPr>
        <p:spPr>
          <a:xfrm>
            <a:off x="8381075" y="8763000"/>
            <a:ext cx="8459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4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الخطوة التالية: معايرة الثقة وكشف الحديث النثري المختلق. المصدر: docs/evaluation.md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8E99CC"/>
                </a:solidFill>
                <a:latin typeface="Readex Pro"/>
              </a:rPr>
              <a:t>06</a:t>
            </a:r>
            <a:endParaRPr/>
          </a:p>
        </p:txBody>
      </p:sp>
      <p:sp>
        <p:nvSpPr>
          <p:cNvPr id="652" name="Google Shape;652;p1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خطة الاستمرار</a:t>
            </a:r>
            <a:endParaRPr/>
          </a:p>
        </p:txBody>
      </p:sp>
      <p:sp>
        <p:nvSpPr>
          <p:cNvPr id="653" name="Google Shape;653;p1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خارطة الطريق بعد القياس الأولي</a:t>
            </a:r>
            <a:endParaRPr/>
          </a:p>
        </p:txBody>
      </p:sp>
      <p:sp>
        <p:nvSpPr>
          <p:cNvPr id="654" name="Google Shape;654;p1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الأولوية: معالجة فجوات التوجيه والاسترجاع والحارس، ثم اختبار المسار الكامل وتوسيعه.</a:t>
            </a:r>
            <a:endParaRPr/>
          </a:p>
        </p:txBody>
      </p:sp>
      <p:sp>
        <p:nvSpPr>
          <p:cNvPr id="655" name="Google Shape;655;p18"/>
          <p:cNvSpPr txBox="1"/>
          <p:nvPr>
            <p:ph idx="3" type="body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656" name="Google Shape;656;p18"/>
          <p:cNvSpPr txBox="1"/>
          <p:nvPr>
            <p:ph idx="4" type="body"/>
          </p:nvPr>
        </p:nvSpPr>
        <p:spPr>
          <a:xfrm>
            <a:off x="13982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1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إصلاح التوجيه</a:t>
            </a:r>
            <a:endParaRPr/>
          </a:p>
        </p:txBody>
      </p:sp>
      <p:sp>
        <p:nvSpPr>
          <p:cNvPr id="657" name="Google Shape;657;p18"/>
          <p:cNvSpPr txBox="1"/>
          <p:nvPr>
            <p:ph idx="5" type="body"/>
          </p:nvPr>
        </p:nvSpPr>
        <p:spPr>
          <a:xfrm>
            <a:off x="13982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الآن</a:t>
            </a:r>
            <a:endParaRPr/>
          </a:p>
        </p:txBody>
      </p:sp>
      <p:sp>
        <p:nvSpPr>
          <p:cNvPr id="658" name="Google Shape;658;p18"/>
          <p:cNvSpPr txBox="1"/>
          <p:nvPr>
            <p:ph idx="6" type="body"/>
          </p:nvPr>
        </p:nvSpPr>
        <p:spPr>
          <a:xfrm>
            <a:off x="13982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تصحيح الحالتين
02 و04</a:t>
            </a:r>
            <a:endParaRPr/>
          </a:p>
        </p:txBody>
      </p:sp>
      <p:sp>
        <p:nvSpPr>
          <p:cNvPr id="659" name="Google Shape;659;p18"/>
          <p:cNvSpPr txBox="1"/>
          <p:nvPr>
            <p:ph idx="7" type="body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660" name="Google Shape;660;p18"/>
          <p:cNvSpPr txBox="1"/>
          <p:nvPr>
            <p:ph idx="8" type="body"/>
          </p:nvPr>
        </p:nvSpPr>
        <p:spPr>
          <a:xfrm>
            <a:off x="108394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1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تحسين الاسترجاع</a:t>
            </a:r>
            <a:endParaRPr/>
          </a:p>
        </p:txBody>
      </p:sp>
      <p:sp>
        <p:nvSpPr>
          <p:cNvPr id="661" name="Google Shape;661;p18"/>
          <p:cNvSpPr txBox="1"/>
          <p:nvPr>
            <p:ph idx="9" type="body"/>
          </p:nvPr>
        </p:nvSpPr>
        <p:spPr>
          <a:xfrm>
            <a:off x="108394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بعدها</a:t>
            </a:r>
            <a:endParaRPr/>
          </a:p>
        </p:txBody>
      </p:sp>
      <p:sp>
        <p:nvSpPr>
          <p:cNvPr id="662" name="Google Shape;662;p18"/>
          <p:cNvSpPr txBox="1"/>
          <p:nvPr>
            <p:ph idx="13" type="body"/>
          </p:nvPr>
        </p:nvSpPr>
        <p:spPr>
          <a:xfrm>
            <a:off x="108394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رفع استدعاء
المراجع المتوقعة</a:t>
            </a:r>
            <a:endParaRPr/>
          </a:p>
        </p:txBody>
      </p:sp>
      <p:sp>
        <p:nvSpPr>
          <p:cNvPr id="663" name="Google Shape;663;p18"/>
          <p:cNvSpPr txBox="1"/>
          <p:nvPr>
            <p:ph idx="14" type="body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664" name="Google Shape;664;p18"/>
          <p:cNvSpPr txBox="1"/>
          <p:nvPr>
            <p:ph idx="15" type="body"/>
          </p:nvPr>
        </p:nvSpPr>
        <p:spPr>
          <a:xfrm>
            <a:off x="76962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1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معايرة الحارس</a:t>
            </a:r>
            <a:endParaRPr/>
          </a:p>
        </p:txBody>
      </p:sp>
      <p:sp>
        <p:nvSpPr>
          <p:cNvPr id="665" name="Google Shape;665;p18"/>
          <p:cNvSpPr txBox="1"/>
          <p:nvPr>
            <p:ph idx="16" type="body"/>
          </p:nvPr>
        </p:nvSpPr>
        <p:spPr>
          <a:xfrm>
            <a:off x="76962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بعدها</a:t>
            </a:r>
            <a:endParaRPr/>
          </a:p>
        </p:txBody>
      </p:sp>
      <p:sp>
        <p:nvSpPr>
          <p:cNvPr id="666" name="Google Shape;666;p18"/>
          <p:cNvSpPr txBox="1"/>
          <p:nvPr>
            <p:ph idx="17" type="body"/>
          </p:nvPr>
        </p:nvSpPr>
        <p:spPr>
          <a:xfrm>
            <a:off x="76962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ضبط الثقة وفحص
الحديث النثري</a:t>
            </a:r>
            <a:endParaRPr/>
          </a:p>
        </p:txBody>
      </p:sp>
      <p:sp>
        <p:nvSpPr>
          <p:cNvPr id="667" name="Google Shape;667;p18"/>
          <p:cNvSpPr txBox="1"/>
          <p:nvPr>
            <p:ph idx="18" type="body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668" name="Google Shape;668;p18"/>
          <p:cNvSpPr txBox="1"/>
          <p:nvPr>
            <p:ph idx="19" type="body"/>
          </p:nvPr>
        </p:nvSpPr>
        <p:spPr>
          <a:xfrm>
            <a:off x="45529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1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اختبار متكامل</a:t>
            </a:r>
            <a:endParaRPr/>
          </a:p>
        </p:txBody>
      </p:sp>
      <p:sp>
        <p:nvSpPr>
          <p:cNvPr id="669" name="Google Shape;669;p18"/>
          <p:cNvSpPr txBox="1"/>
          <p:nvPr>
            <p:ph idx="20" type="body"/>
          </p:nvPr>
        </p:nvSpPr>
        <p:spPr>
          <a:xfrm>
            <a:off x="45529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تالية</a:t>
            </a:r>
            <a:endParaRPr/>
          </a:p>
        </p:txBody>
      </p:sp>
      <p:sp>
        <p:nvSpPr>
          <p:cNvPr id="670" name="Google Shape;670;p18"/>
          <p:cNvSpPr txBox="1"/>
          <p:nvPr>
            <p:ph idx="21" type="body"/>
          </p:nvPr>
        </p:nvSpPr>
        <p:spPr>
          <a:xfrm>
            <a:off x="45529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Gemini فعلي +
تكرار موثّق</a:t>
            </a:r>
            <a:endParaRPr/>
          </a:p>
        </p:txBody>
      </p:sp>
      <p:sp>
        <p:nvSpPr>
          <p:cNvPr id="671" name="Google Shape;671;p18"/>
          <p:cNvSpPr txBox="1"/>
          <p:nvPr>
            <p:ph idx="22" type="body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672" name="Google Shape;672;p18"/>
          <p:cNvSpPr txBox="1"/>
          <p:nvPr>
            <p:ph idx="23" type="body"/>
          </p:nvPr>
        </p:nvSpPr>
        <p:spPr>
          <a:xfrm>
            <a:off x="1409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1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توسيع التشغيل</a:t>
            </a:r>
            <a:endParaRPr/>
          </a:p>
        </p:txBody>
      </p:sp>
      <p:sp>
        <p:nvSpPr>
          <p:cNvPr id="673" name="Google Shape;673;p18"/>
          <p:cNvSpPr txBox="1"/>
          <p:nvPr>
            <p:ph idx="24" type="body"/>
          </p:nvPr>
        </p:nvSpPr>
        <p:spPr>
          <a:xfrm>
            <a:off x="1409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مستمر</a:t>
            </a:r>
            <a:endParaRPr/>
          </a:p>
        </p:txBody>
      </p:sp>
      <p:sp>
        <p:nvSpPr>
          <p:cNvPr id="674" name="Google Shape;674;p18"/>
          <p:cNvSpPr txBox="1"/>
          <p:nvPr>
            <p:ph idx="25" type="body"/>
          </p:nvPr>
        </p:nvSpPr>
        <p:spPr>
          <a:xfrm>
            <a:off x="1409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7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مراجع موثوقة،
مراقبة وتجربة أفضل</a:t>
            </a:r>
            <a:endParaRPr/>
          </a:p>
        </p:txBody>
      </p:sp>
      <p:cxnSp>
        <p:nvCxnSpPr>
          <p:cNvPr id="675" name="Google Shape;675;p18"/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6" name="Google Shape;6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/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18"/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8"/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8"/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السؤال إلى مخرج مسؤول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استرجاع محلي (BM25 وخريطة دلالية)؛ Gemini Flash Lite للشرح لا للإسناد.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8E99CC"/>
                </a:solidFill>
                <a:latin typeface="Readex Pro"/>
              </a:rPr>
              <a:t>03</a:t>
            </a:r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المدخلات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السؤال + نمط السائل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ومعرفة يختارها المستخدم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توجيه أ–د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مصنّف النية يحدد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نطاق الإجابة أو الإحالة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الاسترجاع والشرح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نصوص محلية + BM25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وGemini Flash Lite للشرح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التحقق والإحالة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بطاقات ومصادر، أو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امتناع/إحالة عند الحاجة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قيمة المستفيد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مصدرٌ أوضح، شرحٌ أنسب، وتحكمٌ للمستخدم قبل مشاركة الحوار.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9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المشاركة والإحالة لا ترسلان شيئاً قبل موافقة المستخدم الصريحة.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8E99CC"/>
                </a:solidFill>
                <a:latin typeface="Readex Pro"/>
              </a:rPr>
              <a:t>04</a:t>
            </a:r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4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شرح يناسب السياق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أنماط للمستفيد ومعرفة يختارها بنفسه لتوجيه مستوى الشرح.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4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مصادر قابلة للتحقق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فصل النص المسترجع عن شرح Gemini، مع نافذة وروابط للمراجع.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4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إحالة مسؤولة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الفتوى الشخصية تُحال؛ واتساب/تيليجرام أو بوت حسب الإعداد. التواصل اختياري.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4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مشاركة بموافقة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18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Supabase معطّل افتراضياً؛ بموافقتك تُشارك المحادثة ومعرفة السائل. تصدير نص/JSON متاح.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/>
          <p:nvPr>
            <p:ph idx="1" type="body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4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تِبْيَان | مسار الحوار المعرفي والإجابات الموثوقة</a:t>
            </a:r>
            <a:endParaRPr/>
          </a:p>
        </p:txBody>
      </p:sp>
      <p:sp>
        <p:nvSpPr>
          <p:cNvPr id="916" name="Google Shape;916;p31"/>
          <p:cNvSpPr txBox="1"/>
          <p:nvPr>
            <p:ph idx="2" type="body"/>
          </p:nvPr>
        </p:nvSpPr>
        <p:spPr>
          <a:xfrm>
            <a:off x="3810000" y="66532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1950" u="sng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  <a:hlinkClick r:id="rId2"/>
              </a:rPr>
              <a:t>جرّب النسخة الحية: tibyan-mvp.vercel.app</a:t>
            </a:r>
            <a:endParaRPr/>
          </a:p>
        </p:txBody>
      </p:sp>
      <p:sp>
        <p:nvSpPr>
          <p:cNvPr id="917" name="Google Shape;917;p31"/>
          <p:cNvSpPr txBox="1"/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ar-SA" sz="7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تِبْيَان — مساعد معرفي موثوق | تحدي باذل 2026</dc:title>
  <cp:lastModifiedBy>python-pptx</cp:lastModifiedBy>
  <cp:revision>1</cp:revision>
  <dcterms:modified xsi:type="dcterms:W3CDTF">2026-10-06T20:56:20Z</dcterms:modified>
  <dc:subject>عرض موجز للمشكلة والحل وآلية العمل والقيمة والنتائج وخطة الاستمرار</dc:subject>
  <dc:creator>فريق تِبْيَان</dc:creator>
  <cp:keywords>تِبْيَان, باذل, حوار معرفي, إجابات موثوقة, الذكاء الاصطناعي</cp:keywords>
  <dc:description>مبني على القالب الرسمي، مع الاحتفاظ بالشرائح المختارة فقط.</dc:description>
</cp:coreProperties>
</file>